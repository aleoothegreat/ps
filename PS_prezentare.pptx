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86419-B1E0-8957-2B03-0CE61C4610B6}" v="161" dt="2026-02-04T19:04:19.250"/>
    <p1510:client id="{2FA58E9D-CE6F-8868-19CE-2923D951673A}" v="51" dt="2026-02-04T18:55:35.739"/>
    <p1510:client id="{5FAC99CB-58B4-0172-F563-1B3803489ECF}" v="314" dt="2026-02-04T19:19:26.146"/>
    <p1510:client id="{91A770D2-129A-77D7-9ACE-F9791CA39D1D}" v="293" dt="2026-02-04T19:43:24.015"/>
    <p1510:client id="{983BAFFC-BDB6-35A6-E0FA-2389F3587B40}" v="57" dt="2026-02-04T19:05:29.943"/>
    <p1510:client id="{D0E3617C-0C10-2BF9-D358-1E45566206CC}" v="1453" dt="2026-02-04T19:31:55.783"/>
    <p1510:client id="{D80FE2FF-B246-4E6A-AD9F-426105FC4930}" v="461" dt="2026-02-04T19:58:11.805"/>
    <p1510:client id="{E4089D37-EC3B-01A4-DA50-CFB791DE1149}" v="36" dt="2026-02-04T19:27:36.842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792"/>
        <p:guide pos="3144"/>
        <p:guide orient="horz" pos="9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8F0E3"/>
                </a:solidFill>
                <a:latin typeface="Avenir Next LT Pro"/>
                <a:cs typeface="Segoe UI"/>
              </a:rPr>
              <a:t>Laminar bracket</a:t>
            </a:r>
            <a:br>
              <a:rPr lang="en-US">
                <a:solidFill>
                  <a:srgbClr val="F8F0E3"/>
                </a:solidFill>
                <a:latin typeface="Avenir Next LT Pro"/>
                <a:cs typeface="Segoe UI"/>
              </a:rPr>
            </a:br>
            <a:r>
              <a:rPr lang="en-US" sz="1200">
                <a:cs typeface="Segoe UI"/>
              </a:rPr>
              <a:t>351 Petre Robert Cristian</a:t>
            </a:r>
            <a:br>
              <a:rPr lang="en-US" sz="1200">
                <a:cs typeface="Segoe UI"/>
              </a:rPr>
            </a:br>
            <a:r>
              <a:rPr lang="en-US" sz="1200">
                <a:cs typeface="Segoe UI"/>
              </a:rPr>
              <a:t>351 Pascaru Dan-Alexandru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159" y="429461"/>
            <a:ext cx="6339441" cy="736099"/>
          </a:xfrm>
        </p:spPr>
        <p:txBody>
          <a:bodyPr>
            <a:normAutofit/>
          </a:bodyPr>
          <a:lstStyle/>
          <a:p>
            <a:r>
              <a:rPr lang="en-US"/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1317530"/>
            <a:ext cx="6338887" cy="4651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Proiectarea</a:t>
            </a:r>
            <a:r>
              <a:rPr lang="en-US"/>
              <a:t> </a:t>
            </a:r>
            <a:r>
              <a:rPr lang="en-US" err="1"/>
              <a:t>unui</a:t>
            </a:r>
            <a:r>
              <a:rPr lang="en-US"/>
              <a:t> protocol de </a:t>
            </a:r>
            <a:r>
              <a:rPr lang="en-US" err="1"/>
              <a:t>comunicare</a:t>
            </a:r>
            <a:r>
              <a:rPr lang="en-US"/>
              <a:t> </a:t>
            </a:r>
            <a:r>
              <a:rPr lang="en-US" err="1"/>
              <a:t>bazat</a:t>
            </a:r>
            <a:r>
              <a:rPr lang="en-US"/>
              <a:t> pe UDP </a:t>
            </a:r>
            <a:r>
              <a:rPr lang="en-US" err="1"/>
              <a:t>luand</a:t>
            </a:r>
            <a:r>
              <a:rPr lang="en-US"/>
              <a:t> in </a:t>
            </a:r>
            <a:r>
              <a:rPr lang="en-US" err="1"/>
              <a:t>considerare</a:t>
            </a:r>
            <a:r>
              <a:rPr lang="en-US"/>
              <a:t> 3 </a:t>
            </a:r>
            <a:r>
              <a:rPr lang="en-US" err="1"/>
              <a:t>scenarii</a:t>
            </a:r>
            <a:r>
              <a:rPr lang="en-US"/>
              <a:t> variate:</a:t>
            </a:r>
          </a:p>
          <a:p>
            <a:endParaRPr lang="en-US"/>
          </a:p>
          <a:p>
            <a:pPr marL="457200" indent="-457200">
              <a:buAutoNum type="arabicPeriod"/>
            </a:pPr>
            <a:r>
              <a:rPr lang="en-US"/>
              <a:t>Server-client in </a:t>
            </a:r>
            <a:r>
              <a:rPr lang="en-US" err="1"/>
              <a:t>jocuri</a:t>
            </a:r>
            <a:endParaRPr lang="en-US"/>
          </a:p>
          <a:p>
            <a:pPr marL="457200" indent="-457200">
              <a:buAutoNum type="arabicPeriod"/>
            </a:pPr>
            <a:r>
              <a:rPr lang="en-US" err="1"/>
              <a:t>Sateliti</a:t>
            </a:r>
          </a:p>
          <a:p>
            <a:pPr marL="457200" indent="-457200">
              <a:buAutoNum type="arabicPeriod"/>
            </a:pPr>
            <a:r>
              <a:rPr lang="en-US" err="1"/>
              <a:t>Mesagerie</a:t>
            </a:r>
            <a:r>
              <a:rPr lang="en-US"/>
              <a:t> in </a:t>
            </a:r>
            <a:r>
              <a:rPr lang="en-US" err="1"/>
              <a:t>timp</a:t>
            </a:r>
            <a:r>
              <a:rPr lang="en-US"/>
              <a:t> real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1903526"/>
            <a:ext cx="6594768" cy="599293"/>
          </a:xfrm>
        </p:spPr>
        <p:txBody>
          <a:bodyPr>
            <a:normAutofit fontScale="90000"/>
          </a:bodyPr>
          <a:lstStyle/>
          <a:p>
            <a:r>
              <a:rPr lang="en-US" err="1">
                <a:solidFill>
                  <a:schemeClr val="bg1"/>
                </a:solidFill>
              </a:rPr>
              <a:t>Problema</a:t>
            </a:r>
            <a:r>
              <a:rPr lang="en-US">
                <a:solidFill>
                  <a:schemeClr val="bg1"/>
                </a:solidFill>
              </a:rPr>
              <a:t> centrala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9BF0EF84-6F38-0379-A479-F132DF0BC9E9}"/>
              </a:ext>
            </a:extLst>
          </p:cNvPr>
          <p:cNvSpPr txBox="1">
            <a:spLocks/>
          </p:cNvSpPr>
          <p:nvPr/>
        </p:nvSpPr>
        <p:spPr>
          <a:xfrm>
            <a:off x="4832879" y="2735698"/>
            <a:ext cx="6338887" cy="31415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>
                <a:solidFill>
                  <a:schemeClr val="bg1"/>
                </a:solidFill>
              </a:rPr>
              <a:t>Analizarea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optimizarea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scenariilor</a:t>
            </a:r>
            <a:r>
              <a:rPr lang="en-US">
                <a:solidFill>
                  <a:schemeClr val="bg1"/>
                </a:solidFill>
              </a:rPr>
              <a:t>  pe </a:t>
            </a:r>
            <a:r>
              <a:rPr lang="en-US" err="1">
                <a:solidFill>
                  <a:schemeClr val="bg1"/>
                </a:solidFill>
              </a:rPr>
              <a:t>baza</a:t>
            </a:r>
            <a:r>
              <a:rPr lang="en-US">
                <a:solidFill>
                  <a:schemeClr val="bg1"/>
                </a:solidFill>
              </a:rPr>
              <a:t> a 3 </a:t>
            </a:r>
            <a:r>
              <a:rPr lang="en-US" err="1">
                <a:solidFill>
                  <a:schemeClr val="bg1"/>
                </a:solidFill>
              </a:rPr>
              <a:t>factori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en-US" err="1">
                <a:solidFill>
                  <a:schemeClr val="bg1"/>
                </a:solidFill>
              </a:rPr>
              <a:t>viteza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fiabilitate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si</a:t>
            </a:r>
            <a:r>
              <a:rPr lang="en-US">
                <a:solidFill>
                  <a:schemeClr val="bg1"/>
                </a:solidFill>
              </a:rPr>
              <a:t> rata de </a:t>
            </a:r>
            <a:r>
              <a:rPr lang="en-US" err="1">
                <a:solidFill>
                  <a:schemeClr val="bg1"/>
                </a:solidFill>
              </a:rPr>
              <a:t>compresie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De </a:t>
            </a:r>
            <a:r>
              <a:rPr lang="en-US" err="1">
                <a:solidFill>
                  <a:schemeClr val="bg1"/>
                </a:solidFill>
              </a:rPr>
              <a:t>asemenea</a:t>
            </a:r>
            <a:r>
              <a:rPr lang="en-US">
                <a:solidFill>
                  <a:schemeClr val="bg1"/>
                </a:solidFill>
              </a:rPr>
              <a:t> ne </a:t>
            </a:r>
            <a:r>
              <a:rPr lang="en-US" err="1">
                <a:solidFill>
                  <a:schemeClr val="bg1"/>
                </a:solidFill>
              </a:rPr>
              <a:t>dorim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sa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analizam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comportamentul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informatiei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trimise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pentru</a:t>
            </a:r>
            <a:r>
              <a:rPr lang="en-US">
                <a:solidFill>
                  <a:schemeClr val="bg1"/>
                </a:solidFill>
              </a:rPr>
              <a:t> a </a:t>
            </a:r>
            <a:r>
              <a:rPr lang="en-US" err="1">
                <a:solidFill>
                  <a:schemeClr val="bg1"/>
                </a:solidFill>
              </a:rPr>
              <a:t>preveni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comporatamente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nedefinite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462" y="544285"/>
            <a:ext cx="6598887" cy="836852"/>
          </a:xfrm>
        </p:spPr>
        <p:txBody>
          <a:bodyPr>
            <a:normAutofit/>
          </a:bodyPr>
          <a:lstStyle/>
          <a:p>
            <a:r>
              <a:rPr lang="en-US"/>
              <a:t>COMPRIMARE date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>
            <a:extLst>
              <a:ext uri="{FF2B5EF4-FFF2-40B4-BE49-F238E27FC236}">
                <a16:creationId xmlns:a16="http://schemas.microsoft.com/office/drawing/2014/main" id="{5330FB75-9821-D340-0811-FCC42367F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9789" y="1382383"/>
            <a:ext cx="6601118" cy="46928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err="1"/>
              <a:t>Algoritmii</a:t>
            </a:r>
            <a:r>
              <a:rPr lang="en-US"/>
              <a:t> </a:t>
            </a:r>
            <a:r>
              <a:rPr lang="en-US" err="1"/>
              <a:t>studiati</a:t>
            </a:r>
            <a:r>
              <a:rPr lang="en-US"/>
              <a:t> in </a:t>
            </a:r>
            <a:r>
              <a:rPr lang="en-US" err="1"/>
              <a:t>aceasta</a:t>
            </a:r>
            <a:r>
              <a:rPr lang="en-US"/>
              <a:t> </a:t>
            </a:r>
            <a:r>
              <a:rPr lang="en-US" err="1"/>
              <a:t>lucrare</a:t>
            </a:r>
            <a:r>
              <a:rPr lang="en-US"/>
              <a:t> sunt LZSS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codarea</a:t>
            </a:r>
            <a:r>
              <a:rPr lang="en-US"/>
              <a:t> </a:t>
            </a:r>
            <a:r>
              <a:rPr lang="en-US" err="1"/>
              <a:t>aritmetica</a:t>
            </a:r>
            <a:r>
              <a:rPr lang="en-US"/>
              <a:t> </a:t>
            </a:r>
            <a:r>
              <a:rPr lang="en-US" err="1"/>
              <a:t>adaptiva</a:t>
            </a:r>
            <a:r>
              <a:rPr lang="en-US"/>
              <a:t>. </a:t>
            </a:r>
          </a:p>
          <a:p>
            <a:r>
              <a:rPr lang="en-US" err="1"/>
              <a:t>Algoritmul</a:t>
            </a:r>
            <a:r>
              <a:rPr lang="en-US"/>
              <a:t> LZSS are 2 </a:t>
            </a:r>
            <a:r>
              <a:rPr lang="en-US" err="1"/>
              <a:t>versiuni</a:t>
            </a:r>
            <a:r>
              <a:rPr lang="en-US"/>
              <a:t>: greedy </a:t>
            </a:r>
            <a:r>
              <a:rPr lang="en-US" err="1"/>
              <a:t>si</a:t>
            </a:r>
            <a:r>
              <a:rPr lang="en-US"/>
              <a:t> lazy.</a:t>
            </a:r>
          </a:p>
          <a:p>
            <a:r>
              <a:rPr lang="en-US"/>
              <a:t>Am </a:t>
            </a:r>
            <a:r>
              <a:rPr lang="en-US" err="1"/>
              <a:t>folosit</a:t>
            </a:r>
            <a:r>
              <a:rPr lang="en-US"/>
              <a:t> </a:t>
            </a:r>
            <a:r>
              <a:rPr lang="en-US" err="1"/>
              <a:t>mai</a:t>
            </a:r>
            <a:r>
              <a:rPr lang="en-US"/>
              <a:t> </a:t>
            </a:r>
            <a:r>
              <a:rPr lang="en-US" err="1"/>
              <a:t>multe</a:t>
            </a:r>
            <a:r>
              <a:rPr lang="en-US"/>
              <a:t> </a:t>
            </a:r>
            <a:r>
              <a:rPr lang="en-US" err="1"/>
              <a:t>valori</a:t>
            </a:r>
            <a:r>
              <a:rPr lang="en-US"/>
              <a:t> </a:t>
            </a:r>
            <a:r>
              <a:rPr lang="en-US" err="1"/>
              <a:t>pentru</a:t>
            </a:r>
            <a:r>
              <a:rPr lang="en-US"/>
              <a:t> </a:t>
            </a:r>
            <a:r>
              <a:rPr lang="en-US" err="1"/>
              <a:t>dimensiunea</a:t>
            </a:r>
            <a:r>
              <a:rPr lang="en-US"/>
              <a:t> </a:t>
            </a:r>
            <a:r>
              <a:rPr lang="en-US" err="1"/>
              <a:t>ferestrei</a:t>
            </a:r>
            <a:r>
              <a:rPr lang="en-US"/>
              <a:t> </a:t>
            </a:r>
            <a:r>
              <a:rPr lang="en-US" err="1"/>
              <a:t>glisante</a:t>
            </a:r>
            <a:r>
              <a:rPr lang="en-US"/>
              <a:t>.</a:t>
            </a:r>
          </a:p>
          <a:p>
            <a:r>
              <a:rPr lang="en-US" err="1"/>
              <a:t>Vom</a:t>
            </a:r>
            <a:r>
              <a:rPr lang="en-US"/>
              <a:t> </a:t>
            </a:r>
            <a:r>
              <a:rPr lang="en-US" err="1"/>
              <a:t>compara</a:t>
            </a:r>
            <a:r>
              <a:rPr lang="en-US"/>
              <a:t> </a:t>
            </a:r>
            <a:r>
              <a:rPr lang="en-US" err="1"/>
              <a:t>acesti</a:t>
            </a:r>
            <a:r>
              <a:rPr lang="en-US"/>
              <a:t> </a:t>
            </a:r>
            <a:r>
              <a:rPr lang="en-US" err="1"/>
              <a:t>algoritmi</a:t>
            </a:r>
            <a:r>
              <a:rPr lang="en-US"/>
              <a:t> cu Burrows-Wheeler </a:t>
            </a:r>
            <a:r>
              <a:rPr lang="en-US" err="1"/>
              <a:t>si</a:t>
            </a:r>
            <a:r>
              <a:rPr lang="en-US"/>
              <a:t> Huffman. Huffman </a:t>
            </a:r>
            <a:r>
              <a:rPr lang="en-US" err="1"/>
              <a:t>reprezentand</a:t>
            </a:r>
            <a:r>
              <a:rPr lang="en-US"/>
              <a:t> </a:t>
            </a:r>
            <a:r>
              <a:rPr lang="en-US" err="1"/>
              <a:t>cazul</a:t>
            </a:r>
            <a:r>
              <a:rPr lang="en-US"/>
              <a:t> de </a:t>
            </a:r>
            <a:r>
              <a:rPr lang="en-US" err="1"/>
              <a:t>baza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0" y="381010"/>
            <a:ext cx="3630205" cy="831416"/>
          </a:xfrm>
        </p:spPr>
        <p:txBody>
          <a:bodyPr>
            <a:normAutofit/>
          </a:bodyPr>
          <a:lstStyle/>
          <a:p>
            <a:r>
              <a:rPr lang="en-US" err="1"/>
              <a:t>rezultate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A763859-2537-E5AD-63A5-9E782397B8BA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2421115122"/>
              </p:ext>
            </p:extLst>
          </p:nvPr>
        </p:nvGraphicFramePr>
        <p:xfrm>
          <a:off x="742757" y="1161810"/>
          <a:ext cx="6597648" cy="5554980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099608">
                  <a:extLst>
                    <a:ext uri="{9D8B030D-6E8A-4147-A177-3AD203B41FA5}">
                      <a16:colId xmlns:a16="http://schemas.microsoft.com/office/drawing/2014/main" val="178765481"/>
                    </a:ext>
                  </a:extLst>
                </a:gridCol>
                <a:gridCol w="1099608">
                  <a:extLst>
                    <a:ext uri="{9D8B030D-6E8A-4147-A177-3AD203B41FA5}">
                      <a16:colId xmlns:a16="http://schemas.microsoft.com/office/drawing/2014/main" val="402196033"/>
                    </a:ext>
                  </a:extLst>
                </a:gridCol>
                <a:gridCol w="1099608">
                  <a:extLst>
                    <a:ext uri="{9D8B030D-6E8A-4147-A177-3AD203B41FA5}">
                      <a16:colId xmlns:a16="http://schemas.microsoft.com/office/drawing/2014/main" val="2345911547"/>
                    </a:ext>
                  </a:extLst>
                </a:gridCol>
                <a:gridCol w="1099608">
                  <a:extLst>
                    <a:ext uri="{9D8B030D-6E8A-4147-A177-3AD203B41FA5}">
                      <a16:colId xmlns:a16="http://schemas.microsoft.com/office/drawing/2014/main" val="3482164000"/>
                    </a:ext>
                  </a:extLst>
                </a:gridCol>
                <a:gridCol w="1099608">
                  <a:extLst>
                    <a:ext uri="{9D8B030D-6E8A-4147-A177-3AD203B41FA5}">
                      <a16:colId xmlns:a16="http://schemas.microsoft.com/office/drawing/2014/main" val="2280154669"/>
                    </a:ext>
                  </a:extLst>
                </a:gridCol>
                <a:gridCol w="1099608">
                  <a:extLst>
                    <a:ext uri="{9D8B030D-6E8A-4147-A177-3AD203B41FA5}">
                      <a16:colId xmlns:a16="http://schemas.microsoft.com/office/drawing/2014/main" val="102661954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Dataset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Metrică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Huffman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BWT + Huff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LZSS Lazy (64K)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LZSS Lazy + Arith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6212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ESA (</a:t>
                      </a:r>
                      <a:r>
                        <a:rPr lang="en-US" b="0" err="1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Satelit</a:t>
                      </a: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C481F"/>
                          </a:solidFill>
                          <a:effectLst/>
                          <a:latin typeface="Roboto"/>
                        </a:rPr>
                        <a:t>Ratio (%)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0.2842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0.1286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0.0142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0.0068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6243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Viteză (MB/s)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1.09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1.07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581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Film (Chat)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C481F"/>
                          </a:solidFill>
                          <a:effectLst/>
                          <a:latin typeface="Roboto"/>
                        </a:rPr>
                        <a:t>Ratio (%)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0.6346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0.4185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0.4024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0.3933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3188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Viteză (MB/s)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9.85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1.46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388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Twitch (Chat)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C481F"/>
                          </a:solidFill>
                          <a:effectLst/>
                          <a:latin typeface="Roboto"/>
                        </a:rPr>
                        <a:t>Ratio (%)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0.668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0.4698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0.3991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0.3881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739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Viteză (MB/s)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10.84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1.43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4838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/>
                        </a:rPr>
                        <a:t>Minecraft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C481F"/>
                          </a:solidFill>
                          <a:effectLst/>
                          <a:latin typeface="Roboto"/>
                        </a:rPr>
                        <a:t>Ratio (%)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0.4859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0.2398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0.2254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0.2057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450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Viteză (MB/s)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18.06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0.05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0.02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0.01</a:t>
                      </a:r>
                    </a:p>
                  </a:txBody>
                  <a:tcPr marL="76200" marR="76200" marT="19050" marB="19050" anchor="ctr">
                    <a:lnL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308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err="1"/>
              <a:t>Detectia</a:t>
            </a:r>
            <a:r>
              <a:rPr lang="en-US"/>
              <a:t> </a:t>
            </a:r>
            <a:r>
              <a:rPr lang="en-US" err="1"/>
              <a:t>anomaliilor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72AFA35-BE8A-9C6B-BA4D-FE5C41182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err="1"/>
              <a:t>Propunem</a:t>
            </a:r>
            <a:r>
              <a:rPr lang="en-US"/>
              <a:t> </a:t>
            </a:r>
            <a:r>
              <a:rPr lang="en-US" err="1"/>
              <a:t>modificarea</a:t>
            </a:r>
            <a:r>
              <a:rPr lang="en-US"/>
              <a:t> </a:t>
            </a:r>
            <a:r>
              <a:rPr lang="en-US" err="1"/>
              <a:t>unui</a:t>
            </a:r>
            <a:r>
              <a:rPr lang="en-US"/>
              <a:t> </a:t>
            </a:r>
            <a:r>
              <a:rPr lang="en-US" err="1"/>
              <a:t>algoritm</a:t>
            </a:r>
            <a:r>
              <a:rPr lang="en-US"/>
              <a:t> </a:t>
            </a:r>
            <a:r>
              <a:rPr lang="en-US" err="1"/>
              <a:t>deja</a:t>
            </a:r>
            <a:r>
              <a:rPr lang="en-US"/>
              <a:t> existent </a:t>
            </a:r>
            <a:r>
              <a:rPr lang="en-US" err="1"/>
              <a:t>bazat</a:t>
            </a:r>
            <a:r>
              <a:rPr lang="en-US"/>
              <a:t> pe </a:t>
            </a:r>
            <a:r>
              <a:rPr lang="en-US" err="1"/>
              <a:t>Tranformata</a:t>
            </a:r>
            <a:r>
              <a:rPr lang="en-US"/>
              <a:t> </a:t>
            </a:r>
            <a:r>
              <a:rPr lang="en-US" err="1"/>
              <a:t>Discreta</a:t>
            </a:r>
            <a:r>
              <a:rPr lang="en-US"/>
              <a:t> Wavelet</a:t>
            </a:r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err="1"/>
              <a:t>Algoritmul</a:t>
            </a:r>
            <a:r>
              <a:rPr lang="en-US"/>
              <a:t> DWT-</a:t>
            </a:r>
            <a:r>
              <a:rPr lang="en-US" err="1"/>
              <a:t>MLEad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259189"/>
            <a:ext cx="9390238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400" err="1"/>
              <a:t>Detecteaza</a:t>
            </a:r>
            <a:r>
              <a:rPr lang="en-US" sz="2400"/>
              <a:t> </a:t>
            </a:r>
            <a:r>
              <a:rPr lang="en-US" sz="2400" err="1"/>
              <a:t>anomalii</a:t>
            </a:r>
            <a:r>
              <a:rPr lang="en-US" sz="2400"/>
              <a:t> in </a:t>
            </a:r>
            <a:r>
              <a:rPr lang="en-US" sz="2400" err="1"/>
              <a:t>serii</a:t>
            </a:r>
            <a:r>
              <a:rPr lang="en-US" sz="2400"/>
              <a:t> </a:t>
            </a:r>
            <a:r>
              <a:rPr lang="en-US" sz="2400" err="1"/>
              <a:t>temporale</a:t>
            </a:r>
            <a:r>
              <a:rPr lang="en-US" sz="2400"/>
              <a:t> cu </a:t>
            </a:r>
            <a:r>
              <a:rPr lang="en-US" sz="2400" err="1"/>
              <a:t>ajutorul</a:t>
            </a:r>
            <a:r>
              <a:rPr lang="en-US" sz="2400"/>
              <a:t> </a:t>
            </a:r>
            <a:r>
              <a:rPr lang="en-US" sz="2400" err="1"/>
              <a:t>Tranformatei</a:t>
            </a:r>
            <a:r>
              <a:rPr lang="en-US" sz="2400"/>
              <a:t> Discrete Wavelet </a:t>
            </a:r>
            <a:r>
              <a:rPr lang="en-US" sz="2400" err="1"/>
              <a:t>si</a:t>
            </a:r>
            <a:r>
              <a:rPr lang="en-US" sz="2400"/>
              <a:t> a </a:t>
            </a:r>
            <a:r>
              <a:rPr lang="en-US" sz="2400">
                <a:ea typeface="+mn-lt"/>
                <a:cs typeface="+mn-lt"/>
              </a:rPr>
              <a:t>Maximum Likelihood Estimation </a:t>
            </a:r>
            <a:r>
              <a:rPr lang="en-US" sz="2400" err="1">
                <a:ea typeface="+mn-lt"/>
                <a:cs typeface="+mn-lt"/>
              </a:rPr>
              <a:t>modeland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distributii</a:t>
            </a:r>
            <a:r>
              <a:rPr lang="en-US" sz="2400">
                <a:ea typeface="+mn-lt"/>
                <a:cs typeface="+mn-lt"/>
              </a:rPr>
              <a:t> locale pe </a:t>
            </a:r>
            <a:r>
              <a:rPr lang="en-US" sz="2400" err="1">
                <a:ea typeface="+mn-lt"/>
                <a:cs typeface="+mn-lt"/>
              </a:rPr>
              <a:t>ferestre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glisante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400" err="1"/>
              <a:t>Exindem</a:t>
            </a:r>
            <a:r>
              <a:rPr lang="en-US" sz="2400"/>
              <a:t> </a:t>
            </a:r>
            <a:r>
              <a:rPr lang="en-US" sz="2400" err="1"/>
              <a:t>metoda</a:t>
            </a:r>
            <a:r>
              <a:rPr lang="en-US" sz="2400"/>
              <a:t> </a:t>
            </a:r>
            <a:r>
              <a:rPr lang="en-US" sz="2400" err="1"/>
              <a:t>clasica</a:t>
            </a:r>
            <a:r>
              <a:rPr lang="en-US" sz="2400"/>
              <a:t> care </a:t>
            </a:r>
            <a:r>
              <a:rPr lang="en-US" sz="2400" err="1"/>
              <a:t>utilizeaza</a:t>
            </a:r>
            <a:r>
              <a:rPr lang="en-US" sz="2400"/>
              <a:t> </a:t>
            </a:r>
            <a:r>
              <a:rPr lang="en-US" sz="2400" err="1"/>
              <a:t>doar</a:t>
            </a:r>
            <a:r>
              <a:rPr lang="en-US" sz="2400"/>
              <a:t> un wavelet la </a:t>
            </a:r>
            <a:r>
              <a:rPr lang="en-US" sz="2400" err="1"/>
              <a:t>mai</a:t>
            </a:r>
            <a:r>
              <a:rPr lang="en-US" sz="2400"/>
              <a:t> </a:t>
            </a:r>
            <a:r>
              <a:rPr lang="en-US" sz="2400" err="1"/>
              <a:t>multe</a:t>
            </a:r>
            <a:r>
              <a:rPr lang="en-US" sz="2400"/>
              <a:t> </a:t>
            </a:r>
            <a:r>
              <a:rPr lang="en-US" sz="2400" err="1"/>
              <a:t>waveleturi</a:t>
            </a:r>
            <a:r>
              <a:rPr lang="en-US" sz="2400"/>
              <a:t> pe care le </a:t>
            </a:r>
            <a:r>
              <a:rPr lang="en-US" sz="2400" err="1"/>
              <a:t>trecem</a:t>
            </a:r>
            <a:r>
              <a:rPr lang="en-US" sz="2400"/>
              <a:t> </a:t>
            </a:r>
            <a:r>
              <a:rPr lang="en-US" sz="2400" err="1"/>
              <a:t>prin</a:t>
            </a:r>
            <a:r>
              <a:rPr lang="en-US" sz="2400"/>
              <a:t> </a:t>
            </a:r>
            <a:r>
              <a:rPr lang="en-US" sz="2400" err="1"/>
              <a:t>algoritm</a:t>
            </a:r>
            <a:r>
              <a:rPr lang="en-US" sz="2400"/>
              <a:t> </a:t>
            </a:r>
            <a:r>
              <a:rPr lang="en-US" sz="2400" err="1"/>
              <a:t>si</a:t>
            </a:r>
            <a:r>
              <a:rPr lang="en-US" sz="2400"/>
              <a:t> la final </a:t>
            </a:r>
            <a:r>
              <a:rPr lang="en-US" sz="2400" err="1"/>
              <a:t>votam</a:t>
            </a:r>
            <a:r>
              <a:rPr lang="en-US" sz="2400"/>
              <a:t> </a:t>
            </a:r>
            <a:r>
              <a:rPr lang="en-US" sz="2400" err="1"/>
              <a:t>anomaliile</a:t>
            </a:r>
            <a:r>
              <a:rPr lang="en-US" sz="2400"/>
              <a:t>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2400" err="1"/>
              <a:t>Algoritmul</a:t>
            </a:r>
            <a:r>
              <a:rPr lang="en-US" sz="2400"/>
              <a:t> </a:t>
            </a:r>
            <a:r>
              <a:rPr lang="en-US" sz="2400" err="1"/>
              <a:t>presupune</a:t>
            </a:r>
            <a:r>
              <a:rPr lang="en-US" sz="2400"/>
              <a:t> o </a:t>
            </a:r>
            <a:r>
              <a:rPr lang="en-US" sz="2400" err="1"/>
              <a:t>structura</a:t>
            </a:r>
            <a:r>
              <a:rPr lang="en-US" sz="2400"/>
              <a:t> </a:t>
            </a:r>
            <a:r>
              <a:rPr lang="en-US" sz="2400" err="1"/>
              <a:t>arborescenta</a:t>
            </a:r>
            <a:r>
              <a:rPr lang="en-US" sz="2400"/>
              <a:t> care </a:t>
            </a:r>
            <a:r>
              <a:rPr lang="en-US" sz="2400" err="1"/>
              <a:t>este</a:t>
            </a:r>
            <a:r>
              <a:rPr lang="en-US" sz="2400"/>
              <a:t> </a:t>
            </a:r>
            <a:r>
              <a:rPr lang="en-US" sz="2400" err="1"/>
              <a:t>utilizata</a:t>
            </a:r>
            <a:r>
              <a:rPr lang="en-US" sz="2400"/>
              <a:t> </a:t>
            </a:r>
            <a:r>
              <a:rPr lang="en-US" sz="2400" err="1"/>
              <a:t>pentru</a:t>
            </a:r>
            <a:r>
              <a:rPr lang="en-US" sz="2400"/>
              <a:t> a </a:t>
            </a:r>
            <a:r>
              <a:rPr lang="en-US" sz="2400" err="1"/>
              <a:t>marca</a:t>
            </a:r>
            <a:r>
              <a:rPr lang="en-US" sz="2400"/>
              <a:t> temporal </a:t>
            </a:r>
            <a:r>
              <a:rPr lang="en-US" sz="2400" err="1"/>
              <a:t>eventualul</a:t>
            </a:r>
            <a:r>
              <a:rPr lang="en-US" sz="2400"/>
              <a:t> </a:t>
            </a:r>
            <a:r>
              <a:rPr lang="en-US" sz="2400" err="1"/>
              <a:t>comportament</a:t>
            </a:r>
            <a:r>
              <a:rPr lang="en-US" sz="2400"/>
              <a:t> anormal.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261111"/>
            <a:ext cx="7889768" cy="2039341"/>
          </a:xfrm>
        </p:spPr>
        <p:txBody>
          <a:bodyPr/>
          <a:lstStyle/>
          <a:p>
            <a:pPr algn="r"/>
            <a:r>
              <a:rPr lang="en-US" err="1"/>
              <a:t>Statisitici</a:t>
            </a:r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6" name="Content Placeholder 8">
            <a:extLst>
              <a:ext uri="{FF2B5EF4-FFF2-40B4-BE49-F238E27FC236}">
                <a16:creationId xmlns:a16="http://schemas.microsoft.com/office/drawing/2014/main" id="{2DDFA6C9-E1CD-EB04-646A-A51696E0B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449329"/>
              </p:ext>
            </p:extLst>
          </p:nvPr>
        </p:nvGraphicFramePr>
        <p:xfrm>
          <a:off x="2964039" y="1522942"/>
          <a:ext cx="6731927" cy="1828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58055">
                  <a:extLst>
                    <a:ext uri="{9D8B030D-6E8A-4147-A177-3AD203B41FA5}">
                      <a16:colId xmlns:a16="http://schemas.microsoft.com/office/drawing/2014/main" val="1329385912"/>
                    </a:ext>
                  </a:extLst>
                </a:gridCol>
                <a:gridCol w="1488722">
                  <a:extLst>
                    <a:ext uri="{9D8B030D-6E8A-4147-A177-3AD203B41FA5}">
                      <a16:colId xmlns:a16="http://schemas.microsoft.com/office/drawing/2014/main" val="1717311163"/>
                    </a:ext>
                  </a:extLst>
                </a:gridCol>
                <a:gridCol w="971988">
                  <a:extLst>
                    <a:ext uri="{9D8B030D-6E8A-4147-A177-3AD203B41FA5}">
                      <a16:colId xmlns:a16="http://schemas.microsoft.com/office/drawing/2014/main" val="2423541185"/>
                    </a:ext>
                  </a:extLst>
                </a:gridCol>
                <a:gridCol w="1306581">
                  <a:extLst>
                    <a:ext uri="{9D8B030D-6E8A-4147-A177-3AD203B41FA5}">
                      <a16:colId xmlns:a16="http://schemas.microsoft.com/office/drawing/2014/main" val="3999712642"/>
                    </a:ext>
                  </a:extLst>
                </a:gridCol>
                <a:gridCol w="1306581">
                  <a:extLst>
                    <a:ext uri="{9D8B030D-6E8A-4147-A177-3AD203B41FA5}">
                      <a16:colId xmlns:a16="http://schemas.microsoft.com/office/drawing/2014/main" val="176402123"/>
                    </a:ext>
                  </a:extLst>
                </a:gridCol>
              </a:tblGrid>
              <a:tr h="3227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Anomalii</a:t>
                      </a:r>
                      <a:r>
                        <a:rPr lang="en-US"/>
                        <a:t>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Toleranta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Precizie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90274"/>
                  </a:ext>
                </a:extLst>
              </a:tr>
              <a:tr h="3227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0.6983 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0.8582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0.6839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451466"/>
                  </a:ext>
                </a:extLst>
              </a:tr>
              <a:tr h="3227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0.7017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0.8723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0.6858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479388"/>
                  </a:ext>
                </a:extLst>
              </a:tr>
              <a:tr h="3227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0.5820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0.7419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0.6807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49226"/>
                  </a:ext>
                </a:extLst>
              </a:tr>
              <a:tr h="3227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0.6078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0.7602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venir Next LT Pro"/>
                        </a:rPr>
                        <a:t>0.6957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74071"/>
                  </a:ext>
                </a:extLst>
              </a:tr>
            </a:tbl>
          </a:graphicData>
        </a:graphic>
      </p:graphicFrame>
      <p:sp>
        <p:nvSpPr>
          <p:cNvPr id="18" name="Subtitle 2">
            <a:extLst>
              <a:ext uri="{FF2B5EF4-FFF2-40B4-BE49-F238E27FC236}">
                <a16:creationId xmlns:a16="http://schemas.microsoft.com/office/drawing/2014/main" id="{DE45D71A-5DB8-D090-D128-B951FD6261A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14269" y="3779920"/>
            <a:ext cx="4412721" cy="3616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/>
              <a:t>DWT_MLEAD &amp; DWT_MLEAD_CUSTOM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70C236D-F9E0-13B7-FA00-2F0F776A03EA}"/>
              </a:ext>
            </a:extLst>
          </p:cNvPr>
          <p:cNvSpPr txBox="1">
            <a:spLocks/>
          </p:cNvSpPr>
          <p:nvPr/>
        </p:nvSpPr>
        <p:spPr>
          <a:xfrm>
            <a:off x="3948113" y="1159486"/>
            <a:ext cx="2620610" cy="36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/>
              <a:t>DWT_CUSTOM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56410A00-F7AA-1F4E-1551-C2EC040EDAAD}"/>
              </a:ext>
            </a:extLst>
          </p:cNvPr>
          <p:cNvSpPr txBox="1">
            <a:spLocks/>
          </p:cNvSpPr>
          <p:nvPr/>
        </p:nvSpPr>
        <p:spPr>
          <a:xfrm>
            <a:off x="3948113" y="3360819"/>
            <a:ext cx="2620610" cy="36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/>
              <a:t>CUSTOM DATASET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F2D8613-A25C-51D8-F20B-3D44084CA131}"/>
              </a:ext>
            </a:extLst>
          </p:cNvPr>
          <p:cNvSpPr txBox="1">
            <a:spLocks/>
          </p:cNvSpPr>
          <p:nvPr/>
        </p:nvSpPr>
        <p:spPr>
          <a:xfrm>
            <a:off x="7899223" y="5978431"/>
            <a:ext cx="2620610" cy="36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err="1">
                <a:ea typeface="+mn-lt"/>
                <a:cs typeface="+mn-lt"/>
              </a:rPr>
              <a:t>Numenta</a:t>
            </a:r>
            <a:r>
              <a:rPr lang="en-US">
                <a:ea typeface="+mn-lt"/>
                <a:cs typeface="+mn-lt"/>
              </a:rPr>
              <a:t> Anomaly Benchmark</a:t>
            </a:r>
            <a:endParaRPr lang="en-US"/>
          </a:p>
        </p:txBody>
      </p:sp>
      <p:graphicFrame>
        <p:nvGraphicFramePr>
          <p:cNvPr id="23" name="Content Placeholder 8">
            <a:extLst>
              <a:ext uri="{FF2B5EF4-FFF2-40B4-BE49-F238E27FC236}">
                <a16:creationId xmlns:a16="http://schemas.microsoft.com/office/drawing/2014/main" id="{7B1047D8-C680-463B-EC3B-B72B42987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502380"/>
              </p:ext>
            </p:extLst>
          </p:nvPr>
        </p:nvGraphicFramePr>
        <p:xfrm>
          <a:off x="4190999" y="4141611"/>
          <a:ext cx="7303518" cy="1828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40277">
                  <a:extLst>
                    <a:ext uri="{9D8B030D-6E8A-4147-A177-3AD203B41FA5}">
                      <a16:colId xmlns:a16="http://schemas.microsoft.com/office/drawing/2014/main" val="1717311163"/>
                    </a:ext>
                  </a:extLst>
                </a:gridCol>
                <a:gridCol w="1306208">
                  <a:extLst>
                    <a:ext uri="{9D8B030D-6E8A-4147-A177-3AD203B41FA5}">
                      <a16:colId xmlns:a16="http://schemas.microsoft.com/office/drawing/2014/main" val="2423541185"/>
                    </a:ext>
                  </a:extLst>
                </a:gridCol>
                <a:gridCol w="909379">
                  <a:extLst>
                    <a:ext uri="{9D8B030D-6E8A-4147-A177-3AD203B41FA5}">
                      <a16:colId xmlns:a16="http://schemas.microsoft.com/office/drawing/2014/main" val="1310402467"/>
                    </a:ext>
                  </a:extLst>
                </a:gridCol>
                <a:gridCol w="1536851">
                  <a:extLst>
                    <a:ext uri="{9D8B030D-6E8A-4147-A177-3AD203B41FA5}">
                      <a16:colId xmlns:a16="http://schemas.microsoft.com/office/drawing/2014/main" val="3999712642"/>
                    </a:ext>
                  </a:extLst>
                </a:gridCol>
                <a:gridCol w="1610803">
                  <a:extLst>
                    <a:ext uri="{9D8B030D-6E8A-4147-A177-3AD203B41FA5}">
                      <a16:colId xmlns:a16="http://schemas.microsoft.com/office/drawing/2014/main" val="176402123"/>
                    </a:ext>
                  </a:extLst>
                </a:gridCol>
              </a:tblGrid>
              <a:tr h="322738">
                <a:tc>
                  <a:txBody>
                    <a:bodyPr/>
                    <a:lstStyle/>
                    <a:p>
                      <a:r>
                        <a:rPr lang="en-US" err="1"/>
                        <a:t>Algoritm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Toleranta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Precizie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90274"/>
                  </a:ext>
                </a:extLst>
              </a:tr>
              <a:tr h="322738">
                <a:tc>
                  <a:txBody>
                    <a:bodyPr/>
                    <a:lstStyle/>
                    <a:p>
                      <a:r>
                        <a:rPr lang="en-US"/>
                        <a:t>DWT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0.2339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0.1899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0.4155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451466"/>
                  </a:ext>
                </a:extLst>
              </a:tr>
              <a:tr h="322738">
                <a:tc>
                  <a:txBody>
                    <a:bodyPr/>
                    <a:lstStyle/>
                    <a:p>
                      <a:r>
                        <a:rPr lang="en-US"/>
                        <a:t>DWT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0.3940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0.3327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0.6227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479388"/>
                  </a:ext>
                </a:extLst>
              </a:tr>
              <a:tr h="3227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DWT_CUSTOM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0.2431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0.3113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0.3307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49226"/>
                  </a:ext>
                </a:extLst>
              </a:tr>
              <a:tr h="322738">
                <a:tc>
                  <a:txBody>
                    <a:bodyPr/>
                    <a:lstStyle/>
                    <a:p>
                      <a:r>
                        <a:rPr lang="en-US"/>
                        <a:t>DWT_CUSTOM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0.3917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0.3573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0.5440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07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 err="1"/>
              <a:t>Concluzie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2501BF-F04B-3A25-61B7-7182D242B25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46225" y="2481940"/>
            <a:ext cx="9716452" cy="36358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Nu </a:t>
            </a:r>
            <a:r>
              <a:rPr lang="en-US" sz="2800" dirty="0" err="1"/>
              <a:t>exista</a:t>
            </a:r>
            <a:r>
              <a:rPr lang="en-US" sz="2800" dirty="0"/>
              <a:t> o </a:t>
            </a:r>
            <a:r>
              <a:rPr lang="en-US" sz="2800" dirty="0" err="1"/>
              <a:t>solutie</a:t>
            </a:r>
            <a:r>
              <a:rPr lang="en-US" sz="2800" dirty="0"/>
              <a:t> </a:t>
            </a:r>
            <a:r>
              <a:rPr lang="en-US" sz="2800" dirty="0" err="1"/>
              <a:t>universala</a:t>
            </a:r>
            <a:r>
              <a:rPr lang="en-US" sz="2800" dirty="0"/>
              <a:t> optima, </a:t>
            </a:r>
            <a:r>
              <a:rPr lang="en-US" sz="2800" dirty="0" err="1"/>
              <a:t>iar</a:t>
            </a:r>
            <a:r>
              <a:rPr lang="en-US" sz="2800" dirty="0"/>
              <a:t> </a:t>
            </a:r>
            <a:r>
              <a:rPr lang="en-US" sz="2800" dirty="0" err="1"/>
              <a:t>performata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situationala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 </a:t>
            </a:r>
            <a:r>
              <a:rPr lang="en-US" sz="2800" dirty="0" err="1"/>
              <a:t>implica</a:t>
            </a:r>
            <a:r>
              <a:rPr lang="en-US" sz="2800" dirty="0"/>
              <a:t> </a:t>
            </a:r>
            <a:r>
              <a:rPr lang="en-US" sz="2800" dirty="0" err="1"/>
              <a:t>compromisuri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r>
              <a:rPr lang="en-US" sz="2800" dirty="0"/>
              <a:t>De </a:t>
            </a:r>
            <a:r>
              <a:rPr lang="en-US" sz="2800" dirty="0" err="1"/>
              <a:t>cele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multe</a:t>
            </a:r>
            <a:r>
              <a:rPr lang="en-US" sz="2800" dirty="0"/>
              <a:t> </a:t>
            </a:r>
            <a:r>
              <a:rPr lang="en-US" sz="2800" dirty="0" err="1"/>
              <a:t>ori</a:t>
            </a:r>
            <a:r>
              <a:rPr lang="en-US" sz="2800" dirty="0"/>
              <a:t>, </a:t>
            </a:r>
            <a:r>
              <a:rPr lang="en-US" sz="2800" dirty="0" err="1"/>
              <a:t>randamentul</a:t>
            </a:r>
            <a:r>
              <a:rPr lang="en-US" sz="2800" dirty="0"/>
              <a:t> </a:t>
            </a:r>
            <a:r>
              <a:rPr lang="en-US" sz="2800" dirty="0" err="1"/>
              <a:t>dorit</a:t>
            </a:r>
            <a:r>
              <a:rPr lang="en-US" sz="2800" dirty="0"/>
              <a:t> </a:t>
            </a:r>
            <a:r>
              <a:rPr lang="en-US" sz="2800" dirty="0" err="1"/>
              <a:t>provine</a:t>
            </a:r>
            <a:r>
              <a:rPr lang="en-US" sz="2800" dirty="0"/>
              <a:t> din </a:t>
            </a:r>
            <a:r>
              <a:rPr lang="en-US" sz="2800" dirty="0" err="1"/>
              <a:t>combinarea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 </a:t>
            </a:r>
            <a:r>
              <a:rPr lang="en-US" sz="2800" dirty="0" err="1"/>
              <a:t>modificarea</a:t>
            </a:r>
            <a:r>
              <a:rPr lang="en-US" sz="2800" dirty="0"/>
              <a:t> </a:t>
            </a:r>
            <a:r>
              <a:rPr lang="en-US" sz="2800" dirty="0" err="1"/>
              <a:t>corecta</a:t>
            </a:r>
            <a:r>
              <a:rPr lang="en-US" sz="2800" dirty="0"/>
              <a:t> a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multor</a:t>
            </a:r>
            <a:r>
              <a:rPr lang="en-US" sz="2800" dirty="0"/>
              <a:t> </a:t>
            </a:r>
            <a:r>
              <a:rPr lang="en-US" sz="2800" dirty="0" err="1"/>
              <a:t>algoritmi</a:t>
            </a:r>
            <a:r>
              <a:rPr lang="en-US" sz="2800" dirty="0"/>
              <a:t> </a:t>
            </a:r>
            <a:r>
              <a:rPr lang="en-US" sz="2800" dirty="0" err="1"/>
              <a:t>si</a:t>
            </a:r>
            <a:r>
              <a:rPr lang="en-US" sz="2800" dirty="0"/>
              <a:t> </a:t>
            </a:r>
            <a:r>
              <a:rPr lang="en-US" sz="2800" dirty="0" err="1"/>
              <a:t>protocoale</a:t>
            </a:r>
            <a:r>
              <a:rPr lang="en-US" sz="2800" dirty="0"/>
              <a:t>, </a:t>
            </a:r>
            <a:r>
              <a:rPr lang="en-US" sz="2800" dirty="0" err="1"/>
              <a:t>impreuna</a:t>
            </a:r>
            <a:r>
              <a:rPr lang="en-US" sz="2800" dirty="0"/>
              <a:t> cu </a:t>
            </a:r>
            <a:r>
              <a:rPr lang="en-US" sz="2800" dirty="0" err="1"/>
              <a:t>idei</a:t>
            </a:r>
            <a:r>
              <a:rPr lang="en-US" sz="2800" dirty="0"/>
              <a:t> din </a:t>
            </a:r>
            <a:r>
              <a:rPr lang="en-US" sz="2800" dirty="0" err="1"/>
              <a:t>cercul</a:t>
            </a:r>
            <a:r>
              <a:rPr lang="en-US" sz="2800" dirty="0"/>
              <a:t> lor. </a:t>
            </a:r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9B7A9F-83D5-4264-91C0-B309A9EDBFB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1950151-0FE0-482F-ADBD-EE52BFC46C9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Laminar bracket 351 Petre Robert Cristian 351 Pascaru Dan-Alexandru</vt:lpstr>
      <vt:lpstr>abstract</vt:lpstr>
      <vt:lpstr>Problema centrala</vt:lpstr>
      <vt:lpstr>COMPRIMARE date</vt:lpstr>
      <vt:lpstr>rezultate</vt:lpstr>
      <vt:lpstr>Detectia anomaliilor</vt:lpstr>
      <vt:lpstr>Algoritmul DWT-MLEad</vt:lpstr>
      <vt:lpstr>Statisitici</vt:lpstr>
      <vt:lpstr>Concluzie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320</cp:revision>
  <dcterms:created xsi:type="dcterms:W3CDTF">2026-02-04T18:49:50Z</dcterms:created>
  <dcterms:modified xsi:type="dcterms:W3CDTF">2026-02-04T19:58:28Z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